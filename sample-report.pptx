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2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900" b="0" i="0" u="none" strike="noStrike">
                <a:solidFill>
                  <a:srgbClr val="B7C6D2"/>
                </a:solidFill>
                <a:latin typeface="Arial"/>
              </a:defRPr>
            </a:pPr>
            <a:r>
              <a:rPr sz="900" b="0" i="0" u="none" strike="noStrike">
                <a:solidFill>
                  <a:srgbClr val="B7C6D2"/>
                </a:solidFill>
                <a:latin typeface="Arial"/>
              </a:rPr>
              <a:t>Median years from research to change, for milestones landing in each preceding ten years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Median years, rolling ten-year window</c:v>
                </c:pt>
              </c:strCache>
            </c:strRef>
          </c:tx>
          <c:spPr>
            <a:solidFill>
              <a:srgbClr val="F7C04A"/>
            </a:solidFill>
            <a:ln w="25400" cap="flat">
              <a:solidFill>
                <a:srgbClr val="F7C04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F7C04A"/>
              </a:solidFill>
              <a:ln w="9525" cap="flat">
                <a:solidFill>
                  <a:srgbClr val="F7C04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Sheet1!$A$2:$A$19</c:f>
              <c:multiLvlStrCache>
                <c:ptCount val="18"/>
                <c:lvl>
                  <c:pt idx="0">
                    <c:v>1940</c:v>
                  </c:pt>
                  <c:pt idx="1">
                    <c:v>1945</c:v>
                  </c:pt>
                  <c:pt idx="2">
                    <c:v>1950</c:v>
                  </c:pt>
                  <c:pt idx="3">
                    <c:v>1955</c:v>
                  </c:pt>
                  <c:pt idx="4">
                    <c:v>1960</c:v>
                  </c:pt>
                  <c:pt idx="5">
                    <c:v>1965</c:v>
                  </c:pt>
                  <c:pt idx="6">
                    <c:v>1970</c:v>
                  </c:pt>
                  <c:pt idx="7">
                    <c:v>1975</c:v>
                  </c:pt>
                  <c:pt idx="8">
                    <c:v>1980</c:v>
                  </c:pt>
                  <c:pt idx="9">
                    <c:v>1985</c:v>
                  </c:pt>
                  <c:pt idx="10">
                    <c:v>1990</c:v>
                  </c:pt>
                  <c:pt idx="11">
                    <c:v>1995</c:v>
                  </c:pt>
                  <c:pt idx="12">
                    <c:v>2000</c:v>
                  </c:pt>
                  <c:pt idx="13">
                    <c:v>2005</c:v>
                  </c:pt>
                  <c:pt idx="14">
                    <c:v>2010</c:v>
                  </c:pt>
                  <c:pt idx="15">
                    <c:v>2015</c:v>
                  </c:pt>
                  <c:pt idx="16">
                    <c:v>2020</c:v>
                  </c:pt>
                  <c:pt idx="17">
                    <c:v>2025</c:v>
                  </c:pt>
                </c:lvl>
              </c:multiLvlStrCache>
            </c:multiLvlStrRef>
          </c:cat>
          <c:val>
            <c:numRef>
              <c:f>Sheet1!$B$2:$B$19</c:f>
              <c:numCache>
                <c:formatCode>General</c:formatCode>
                <c:ptCount val="18"/>
                <c:pt idx="0">
                  <c:v>3</c:v>
                </c:pt>
                <c:pt idx="1">
                  <c:v>5</c:v>
                </c:pt>
                <c:pt idx="2">
                  <c:v>8</c:v>
                </c:pt>
                <c:pt idx="3">
                  <c:v>7</c:v>
                </c:pt>
                <c:pt idx="4">
                  <c:v>7</c:v>
                </c:pt>
                <c:pt idx="5">
                  <c:v>6</c:v>
                </c:pt>
                <c:pt idx="6">
                  <c:v>6</c:v>
                </c:pt>
                <c:pt idx="7">
                  <c:v>6</c:v>
                </c:pt>
                <c:pt idx="8">
                  <c:v>7</c:v>
                </c:pt>
                <c:pt idx="9">
                  <c:v>7</c:v>
                </c:pt>
                <c:pt idx="10">
                  <c:v>7</c:v>
                </c:pt>
                <c:pt idx="11">
                  <c:v>7</c:v>
                </c:pt>
                <c:pt idx="12">
                  <c:v>6</c:v>
                </c:pt>
                <c:pt idx="13">
                  <c:v>7</c:v>
                </c:pt>
                <c:pt idx="14">
                  <c:v>6</c:v>
                </c:pt>
                <c:pt idx="15">
                  <c:v>6</c:v>
                </c:pt>
                <c:pt idx="16">
                  <c:v>7</c:v>
                </c:pt>
                <c:pt idx="17">
                  <c:v>6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B7C6D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2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2384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8FA6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B1724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900" b="0" i="0" u="none" strike="noStrike">
                <a:solidFill>
                  <a:srgbClr val="B7C6D2"/>
                </a:solidFill>
                <a:latin typeface="Arial"/>
              </a:defRPr>
            </a:pPr>
            <a:r>
              <a:rPr sz="900" b="0" i="0" u="none" strike="noStrike">
                <a:solidFill>
                  <a:srgbClr val="B7C6D2"/>
                </a:solidFill>
                <a:latin typeface="Arial"/>
              </a:rPr>
              <a:t>Median years from research to change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Landed before 2000</c:v>
                </c:pt>
              </c:strCache>
            </c:strRef>
          </c:tx>
          <c:spPr>
            <a:solidFill>
              <a:srgbClr val="5D748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E9F2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Quantum</c:v>
                  </c:pt>
                  <c:pt idx="1">
                    <c:v>Materials science</c:v>
                  </c:pt>
                  <c:pt idx="2">
                    <c:v>Life sciences</c:v>
                  </c:pt>
                  <c:pt idx="3">
                    <c:v>Space</c:v>
                  </c:pt>
                  <c:pt idx="4">
                    <c:v>Robotics &amp; autonomy</c:v>
                  </c:pt>
                  <c:pt idx="5">
                    <c:v>Energy</c:v>
                  </c:pt>
                  <c:pt idx="6">
                    <c:v>Communications</c:v>
                  </c:pt>
                  <c:pt idx="7">
                    <c:v>Computing software</c:v>
                  </c:pt>
                  <c:pt idx="8">
                    <c:v>Cyber security</c:v>
                  </c:pt>
                  <c:pt idx="9">
                    <c:v>Computing hardware</c:v>
                  </c:pt>
                  <c:pt idx="10">
                    <c:v>Artificial intelligence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9</c:v>
                </c:pt>
                <c:pt idx="1">
                  <c:v>6</c:v>
                </c:pt>
                <c:pt idx="2">
                  <c:v>7</c:v>
                </c:pt>
                <c:pt idx="3">
                  <c:v>15</c:v>
                </c:pt>
                <c:pt idx="4">
                  <c:v>7</c:v>
                </c:pt>
                <c:pt idx="5">
                  <c:v>7</c:v>
                </c:pt>
                <c:pt idx="6">
                  <c:v>9</c:v>
                </c:pt>
                <c:pt idx="7">
                  <c:v>5</c:v>
                </c:pt>
                <c:pt idx="8">
                  <c:v>5</c:v>
                </c:pt>
                <c:pt idx="9">
                  <c:v>5</c:v>
                </c:pt>
                <c:pt idx="10">
                  <c:v>8.5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Landed since 2000</c:v>
                </c:pt>
              </c:strCache>
            </c:strRef>
          </c:tx>
          <c:spPr>
            <a:solidFill>
              <a:srgbClr val="4CD3C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E9F2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Quantum</c:v>
                  </c:pt>
                  <c:pt idx="1">
                    <c:v>Materials science</c:v>
                  </c:pt>
                  <c:pt idx="2">
                    <c:v>Life sciences</c:v>
                  </c:pt>
                  <c:pt idx="3">
                    <c:v>Space</c:v>
                  </c:pt>
                  <c:pt idx="4">
                    <c:v>Robotics &amp; autonomy</c:v>
                  </c:pt>
                  <c:pt idx="5">
                    <c:v>Energy</c:v>
                  </c:pt>
                  <c:pt idx="6">
                    <c:v>Communications</c:v>
                  </c:pt>
                  <c:pt idx="7">
                    <c:v>Computing software</c:v>
                  </c:pt>
                  <c:pt idx="8">
                    <c:v>Cyber security</c:v>
                  </c:pt>
                  <c:pt idx="9">
                    <c:v>Computing hardware</c:v>
                  </c:pt>
                  <c:pt idx="10">
                    <c:v>Artificial intelligence</c:v>
                  </c:pt>
                </c:lvl>
              </c:multiLvlStrCache>
            </c:multiLvl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17</c:v>
                </c:pt>
                <c:pt idx="1">
                  <c:v>17</c:v>
                </c:pt>
                <c:pt idx="2">
                  <c:v>15</c:v>
                </c:pt>
                <c:pt idx="3">
                  <c:v>14</c:v>
                </c:pt>
                <c:pt idx="4">
                  <c:v>11</c:v>
                </c:pt>
                <c:pt idx="5">
                  <c:v>9</c:v>
                </c:pt>
                <c:pt idx="6">
                  <c:v>9</c:v>
                </c:pt>
                <c:pt idx="7">
                  <c:v>8</c:v>
                </c:pt>
                <c:pt idx="8">
                  <c:v>7</c:v>
                </c:pt>
                <c:pt idx="9">
                  <c:v>6</c:v>
                </c:pt>
                <c:pt idx="10">
                  <c:v>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E9F2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B7C6D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22384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8FA6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B1724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
              <a:solidFill>
                <a:srgbClr val="B7C6D2"/>
              </a:solidFill>
              <a:latin typeface="Arial"/>
              <a:cs typeface="Arial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900" b="0" i="0" u="none" strike="noStrike">
                <a:solidFill>
                  <a:srgbClr val="B7C6D2"/>
                </a:solidFill>
                <a:latin typeface="Arial"/>
              </a:defRPr>
            </a:pPr>
            <a:r>
              <a:rPr sz="900" b="0" i="0" u="none" strike="noStrike">
                <a:solidFill>
                  <a:srgbClr val="B7C6D2"/>
                </a:solidFill>
                <a:latin typeface="Arial"/>
              </a:rPr>
              <a:t>Median years from research to change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Recent pace (research since 2000)</c:v>
                </c:pt>
              </c:strCache>
            </c:strRef>
          </c:tx>
          <c:spPr>
            <a:solidFill>
              <a:srgbClr val="5D748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E9F2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Materials science</c:v>
                  </c:pt>
                  <c:pt idx="1">
                    <c:v>Life sciences</c:v>
                  </c:pt>
                  <c:pt idx="2">
                    <c:v>Space</c:v>
                  </c:pt>
                  <c:pt idx="3">
                    <c:v>Robotics &amp; autonomy</c:v>
                  </c:pt>
                  <c:pt idx="4">
                    <c:v>Energy</c:v>
                  </c:pt>
                  <c:pt idx="5">
                    <c:v>Quantum</c:v>
                  </c:pt>
                  <c:pt idx="6">
                    <c:v>Cyber security</c:v>
                  </c:pt>
                  <c:pt idx="7">
                    <c:v>Computing software</c:v>
                  </c:pt>
                  <c:pt idx="8">
                    <c:v>Computing hardware</c:v>
                  </c:pt>
                  <c:pt idx="9">
                    <c:v>Communications</c:v>
                  </c:pt>
                  <c:pt idx="10">
                    <c:v>Artificial intelligence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11</c:v>
                </c:pt>
                <c:pt idx="1">
                  <c:v>11</c:v>
                </c:pt>
                <c:pt idx="2">
                  <c:v>10</c:v>
                </c:pt>
                <c:pt idx="3">
                  <c:v>7.5</c:v>
                </c:pt>
                <c:pt idx="4">
                  <c:v>7</c:v>
                </c:pt>
                <c:pt idx="5">
                  <c:v>7</c:v>
                </c:pt>
                <c:pt idx="6">
                  <c:v>7</c:v>
                </c:pt>
                <c:pt idx="7">
                  <c:v>6.5</c:v>
                </c:pt>
                <c:pt idx="8">
                  <c:v>6</c:v>
                </c:pt>
                <c:pt idx="9">
                  <c:v>4.5</c:v>
                </c:pt>
                <c:pt idx="10">
                  <c:v>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With AI and digital twins (scenario midpoint)</c:v>
                </c:pt>
              </c:strCache>
            </c:strRef>
          </c:tx>
          <c:spPr>
            <a:solidFill>
              <a:srgbClr val="F7C04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E9F2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Materials science</c:v>
                  </c:pt>
                  <c:pt idx="1">
                    <c:v>Life sciences</c:v>
                  </c:pt>
                  <c:pt idx="2">
                    <c:v>Space</c:v>
                  </c:pt>
                  <c:pt idx="3">
                    <c:v>Robotics &amp; autonomy</c:v>
                  </c:pt>
                  <c:pt idx="4">
                    <c:v>Energy</c:v>
                  </c:pt>
                  <c:pt idx="5">
                    <c:v>Quantum</c:v>
                  </c:pt>
                  <c:pt idx="6">
                    <c:v>Cyber security</c:v>
                  </c:pt>
                  <c:pt idx="7">
                    <c:v>Computing software</c:v>
                  </c:pt>
                  <c:pt idx="8">
                    <c:v>Computing hardware</c:v>
                  </c:pt>
                  <c:pt idx="9">
                    <c:v>Communications</c:v>
                  </c:pt>
                  <c:pt idx="10">
                    <c:v>Artificial intelligence</c:v>
                  </c:pt>
                </c:lvl>
              </c:multiLvlStrCache>
            </c:multiLvl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6.9</c:v>
                </c:pt>
                <c:pt idx="1">
                  <c:v>8.8</c:v>
                </c:pt>
                <c:pt idx="2">
                  <c:v>8</c:v>
                </c:pt>
                <c:pt idx="3">
                  <c:v>4.9</c:v>
                </c:pt>
                <c:pt idx="4">
                  <c:v>5.1</c:v>
                </c:pt>
                <c:pt idx="5">
                  <c:v>6</c:v>
                </c:pt>
                <c:pt idx="6">
                  <c:v>4.6</c:v>
                </c:pt>
                <c:pt idx="7">
                  <c:v>2.9</c:v>
                </c:pt>
                <c:pt idx="8">
                  <c:v>4.2</c:v>
                </c:pt>
                <c:pt idx="9">
                  <c:v>3.7</c:v>
                </c:pt>
                <c:pt idx="10">
                  <c:v>1.1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E9F2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B7C6D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22384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8FA6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B1724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
              <a:solidFill>
                <a:srgbClr val="B7C6D2"/>
              </a:solidFill>
              <a:latin typeface="Arial"/>
              <a:cs typeface="Arial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Headline: across the selection, the typical gap has moved from 6 years (before 1970) to 9 years (since 2000). AI-driven work since 2010 has taken a median 4 years against 6 for other work. Data is AI-maintained and may contain errors.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Software and AI compress fastest. Physical, safety-critical fields such as energy, materials and life sciences are limited by manufacturing, trials, safety cases and consent.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AI ranges are scenario assumptions stated in the dataset, not forecasts. The comparison uses technology arcs only, excluding policy milestones.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7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20640" y="320040"/>
            <a:ext cx="3840480" cy="2194560"/>
          </a:xfrm>
          <a:prstGeom prst="arc">
            <a:avLst>
              <a:gd name="adj1" fmla="val 10800000"/>
              <a:gd name="adj2" fmla="val 21600000"/>
            </a:avLst>
          </a:prstGeom>
          <a:noFill/>
          <a:ln w="19050">
            <a:solidFill>
              <a:srgbClr val="F7C04A">
                <a:alpha val="8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40680" y="521208"/>
            <a:ext cx="3200400" cy="1792224"/>
          </a:xfrm>
          <a:prstGeom prst="arc">
            <a:avLst>
              <a:gd name="adj1" fmla="val 10800000"/>
              <a:gd name="adj2" fmla="val 21600000"/>
            </a:avLst>
          </a:prstGeom>
          <a:noFill/>
          <a:ln w="19050">
            <a:solidFill>
              <a:srgbClr val="4CD3C2">
                <a:alpha val="6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760720" y="722376"/>
            <a:ext cx="2560320" cy="1389888"/>
          </a:xfrm>
          <a:prstGeom prst="arc">
            <a:avLst>
              <a:gd name="adj1" fmla="val 10800000"/>
              <a:gd name="adj2" fmla="val 21600000"/>
            </a:avLst>
          </a:prstGeom>
          <a:noFill/>
          <a:ln w="19050">
            <a:solidFill>
              <a:srgbClr val="A891FF">
                <a:alpha val="5600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320040"/>
            <a:ext cx="6035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E9F2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Shrinking Gap from Research to Change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216152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long research takes to become real-world change, 1925–2036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600200"/>
            <a:ext cx="2606040" cy="1097280"/>
          </a:xfrm>
          <a:prstGeom prst="roundRect">
            <a:avLst>
              <a:gd name="adj" fmla="val 10000"/>
            </a:avLst>
          </a:prstGeom>
          <a:solidFill>
            <a:srgbClr val="13283A"/>
          </a:solidFill>
          <a:ln w="9525">
            <a:solidFill>
              <a:srgbClr val="22384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1709928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7C0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 → 9 yrs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276856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FA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gap for milestones landing before 1970, and since 2000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68980" y="1600200"/>
            <a:ext cx="2606040" cy="1097280"/>
          </a:xfrm>
          <a:prstGeom prst="roundRect">
            <a:avLst>
              <a:gd name="adj" fmla="val 10000"/>
            </a:avLst>
          </a:prstGeom>
          <a:solidFill>
            <a:srgbClr val="13283A"/>
          </a:solidFill>
          <a:ln w="9525">
            <a:solidFill>
              <a:srgbClr val="22384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451860" y="1709928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4CD3C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 vs 6 yrs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3451860" y="2276856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FA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AI-driven work against everything else (research since 2010)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080760" y="1600200"/>
            <a:ext cx="2606040" cy="1097280"/>
          </a:xfrm>
          <a:prstGeom prst="roundRect">
            <a:avLst>
              <a:gd name="adj" fmla="val 10000"/>
            </a:avLst>
          </a:prstGeom>
          <a:solidFill>
            <a:srgbClr val="13283A"/>
          </a:solidFill>
          <a:ln w="9525">
            <a:solidFill>
              <a:srgbClr val="22384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63640" y="1709928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A891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449</a:t>
            </a:r>
            <a:endParaRPr lang="en-US" sz="2800" dirty="0"/>
          </a:p>
        </p:txBody>
      </p:sp>
      <p:sp>
        <p:nvSpPr>
          <p:cNvPr id="15" name="Text 13"/>
          <p:cNvSpPr txBox="1"/>
          <p:nvPr/>
        </p:nvSpPr>
        <p:spPr>
          <a:xfrm>
            <a:off x="6263640" y="2276856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FA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Milestones in this selection, across 11 fields</a:t>
            </a:r>
            <a:endParaRPr lang="en-US" sz="900" dirty="0"/>
          </a:p>
        </p:txBody>
      </p:sp>
      <p:graphicFrame>
        <p:nvGraphicFramePr>
          <p:cNvPr id="16" name="Chart 0" descr=""/>
          <p:cNvGraphicFramePr/>
          <p:nvPr/>
        </p:nvGraphicFramePr>
        <p:xfrm>
          <a:off x="365760" y="2834640"/>
          <a:ext cx="8412480" cy="1828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8" name="Text 14"/>
          <p:cNvSpPr txBox="1"/>
          <p:nvPr/>
        </p:nvSpPr>
        <p:spPr>
          <a:xfrm>
            <a:off x="457200" y="475488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FA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Stuart Okin, personal project. Data as of 2026-10-27, maintained by AI agents without human review and may contain errors. Outlook years are AI estimates. Selection: All fields.</a:t>
            </a:r>
            <a:endParaRPr lang="en-US" sz="700" dirty="0"/>
          </a:p>
        </p:txBody>
      </p:sp>
      <p:sp>
        <p:nvSpPr>
          <p:cNvPr id="19" name="Text 15"/>
          <p:cNvSpPr txBox="1"/>
          <p:nvPr/>
        </p:nvSpPr>
        <p:spPr>
          <a:xfrm>
            <a:off x="8321040" y="47548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FA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7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E9F2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the gap has shrunk, and where it hasn’t</a:t>
            </a:r>
            <a:endParaRPr lang="en-US" sz="2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365760" y="960120"/>
          <a:ext cx="5486400" cy="3703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6080760" y="960120"/>
            <a:ext cx="2606040" cy="3703320"/>
          </a:xfrm>
          <a:prstGeom prst="roundRect">
            <a:avLst>
              <a:gd name="adj" fmla="val 4211"/>
            </a:avLst>
          </a:prstGeom>
          <a:solidFill>
            <a:srgbClr val="13283A"/>
          </a:solidFill>
          <a:ln w="9525">
            <a:solidFill>
              <a:srgbClr val="22384A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263640" y="1143000"/>
            <a:ext cx="22860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4CD3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Shrinking fastest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E9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Artificial intelligence: 9 → 4 years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E9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Space: 15 → 14 years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F7C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shrinking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E9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Quantum: 9 → 17 years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E9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Materials science: 6 → 17 years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E9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 sciences: 7 → 15 years</a:t>
            </a:r>
            <a:endParaRPr lang="en-US" sz="1100" dirty="0"/>
          </a:p>
        </p:txBody>
      </p:sp>
      <p:sp>
        <p:nvSpPr>
          <p:cNvPr id="7" name="Text 3"/>
          <p:cNvSpPr txBox="1"/>
          <p:nvPr/>
        </p:nvSpPr>
        <p:spPr>
          <a:xfrm>
            <a:off x="457200" y="475488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FA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Stuart Okin, personal project. Data as of 2026-10-27, maintained by AI agents without human review and may contain errors. Outlook years are AI estimates. Selection: All fields.</a:t>
            </a:r>
            <a:endParaRPr lang="en-US" sz="700" dirty="0"/>
          </a:p>
        </p:txBody>
      </p:sp>
      <p:sp>
        <p:nvSpPr>
          <p:cNvPr id="8" name="Text 4"/>
          <p:cNvSpPr txBox="1"/>
          <p:nvPr/>
        </p:nvSpPr>
        <p:spPr>
          <a:xfrm>
            <a:off x="8321040" y="47548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FA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7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E9F2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Can AI shrink the gap further?</a:t>
            </a:r>
            <a:endParaRPr lang="en-US" sz="2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365760" y="960120"/>
          <a:ext cx="5486400" cy="3703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6080760" y="960120"/>
            <a:ext cx="2606040" cy="1097280"/>
          </a:xfrm>
          <a:prstGeom prst="roundRect">
            <a:avLst>
              <a:gd name="adj" fmla="val 10000"/>
            </a:avLst>
          </a:prstGeom>
          <a:solidFill>
            <a:srgbClr val="13283A"/>
          </a:solidFill>
          <a:ln w="9525">
            <a:solidFill>
              <a:srgbClr val="22384A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263640" y="1069848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7C0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3–5 yrs</a:t>
            </a:r>
            <a:endParaRPr lang="en-US" sz="2800" dirty="0"/>
          </a:p>
        </p:txBody>
      </p:sp>
      <p:sp>
        <p:nvSpPr>
          <p:cNvPr id="6" name="Text 3"/>
          <p:cNvSpPr txBox="1"/>
          <p:nvPr/>
        </p:nvSpPr>
        <p:spPr>
          <a:xfrm>
            <a:off x="6263640" y="1636776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FA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Scenario for research starting now, against 6 years at the recent pace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6080760" y="2194560"/>
            <a:ext cx="2606040" cy="1097280"/>
          </a:xfrm>
          <a:prstGeom prst="roundRect">
            <a:avLst>
              <a:gd name="adj" fmla="val 10000"/>
            </a:avLst>
          </a:prstGeom>
          <a:solidFill>
            <a:srgbClr val="13283A"/>
          </a:solidFill>
          <a:ln w="9525">
            <a:solidFill>
              <a:srgbClr val="22384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263640" y="2304288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4CD3C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 vs 13</a:t>
            </a:r>
            <a:endParaRPr lang="en-US" sz="2800" dirty="0"/>
          </a:p>
        </p:txBody>
      </p:sp>
      <p:sp>
        <p:nvSpPr>
          <p:cNvPr id="9" name="Text 6"/>
          <p:cNvSpPr txBox="1"/>
          <p:nvPr/>
        </p:nvSpPr>
        <p:spPr>
          <a:xfrm>
            <a:off x="6263640" y="2871216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FA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Years to change, outlook to 2036: AI-driven routes against conventional ones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6080760" y="3429000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B7C6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compresses discovery, design and testing. It does not compress factories, clinical trials, safety cases, standards or planning consent.</a:t>
            </a:r>
            <a:endParaRPr lang="en-US" sz="900" dirty="0"/>
          </a:p>
        </p:txBody>
      </p:sp>
      <p:sp>
        <p:nvSpPr>
          <p:cNvPr id="12" name="Text 8"/>
          <p:cNvSpPr txBox="1"/>
          <p:nvPr/>
        </p:nvSpPr>
        <p:spPr>
          <a:xfrm>
            <a:off x="457200" y="475488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FA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Stuart Okin, personal project. Data as of 2026-10-27, maintained by AI agents without human review and may contain errors. Outlook years are AI estimates. Selection: All fields.</a:t>
            </a:r>
            <a:endParaRPr lang="en-US" sz="700" dirty="0"/>
          </a:p>
        </p:txBody>
      </p:sp>
      <p:sp>
        <p:nvSpPr>
          <p:cNvPr id="13" name="Text 9"/>
          <p:cNvSpPr txBox="1"/>
          <p:nvPr/>
        </p:nvSpPr>
        <p:spPr>
          <a:xfrm>
            <a:off x="8321040" y="47548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FA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Shrinking Gap from Research to Change</dc:title>
  <dc:subject>Research to change, 1925–2036</dc:subject>
  <dc:creator>Stuart Okin</dc:creator>
  <cp:lastModifiedBy>Stuart Okin</cp:lastModifiedBy>
  <cp:revision>1</cp:revision>
  <dcterms:created xsi:type="dcterms:W3CDTF">2026-10-27T21:31:16Z</dcterms:created>
  <dcterms:modified xsi:type="dcterms:W3CDTF">2026-10-27T21:31:16Z</dcterms:modified>
</cp:coreProperties>
</file>