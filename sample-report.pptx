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gap (years)</c:v>
                </c:pt>
              </c:strCache>
            </c:strRef>
          </c:tx>
          <c:spPr>
            <a:solidFill>
              <a:srgbClr val="F7C04A"/>
            </a:solidFill>
            <a:ln w="31750" cap="flat">
              <a:solidFill>
                <a:srgbClr val="F7C0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7C04A"/>
              </a:solidFill>
              <a:ln w="9525" cap="flat">
                <a:solidFill>
                  <a:srgbClr val="F7C0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1936</c:v>
                  </c:pt>
                  <c:pt idx="1">
                    <c:v>1938</c:v>
                  </c:pt>
                  <c:pt idx="2">
                    <c:v>1940</c:v>
                  </c:pt>
                  <c:pt idx="3">
                    <c:v>1942</c:v>
                  </c:pt>
                  <c:pt idx="4">
                    <c:v>1944</c:v>
                  </c:pt>
                  <c:pt idx="5">
                    <c:v>1946</c:v>
                  </c:pt>
                  <c:pt idx="6">
                    <c:v>1948</c:v>
                  </c:pt>
                  <c:pt idx="7">
                    <c:v>1950</c:v>
                  </c:pt>
                  <c:pt idx="8">
                    <c:v>1952</c:v>
                  </c:pt>
                  <c:pt idx="9">
                    <c:v>1954</c:v>
                  </c:pt>
                  <c:pt idx="10">
                    <c:v>1956</c:v>
                  </c:pt>
                  <c:pt idx="11">
                    <c:v>1958</c:v>
                  </c:pt>
                  <c:pt idx="12">
                    <c:v>1960</c:v>
                  </c:pt>
                  <c:pt idx="13">
                    <c:v>1962</c:v>
                  </c:pt>
                  <c:pt idx="14">
                    <c:v>1964</c:v>
                  </c:pt>
                  <c:pt idx="15">
                    <c:v>1966</c:v>
                  </c:pt>
                  <c:pt idx="16">
                    <c:v>1968</c:v>
                  </c:pt>
                  <c:pt idx="17">
                    <c:v>1970</c:v>
                  </c:pt>
                  <c:pt idx="18">
                    <c:v>1972</c:v>
                  </c:pt>
                  <c:pt idx="19">
                    <c:v>1974</c:v>
                  </c:pt>
                  <c:pt idx="20">
                    <c:v>1976</c:v>
                  </c:pt>
                  <c:pt idx="21">
                    <c:v>1978</c:v>
                  </c:pt>
                  <c:pt idx="22">
                    <c:v>1980</c:v>
                  </c:pt>
                  <c:pt idx="23">
                    <c:v>1982</c:v>
                  </c:pt>
                  <c:pt idx="24">
                    <c:v>1984</c:v>
                  </c:pt>
                  <c:pt idx="25">
                    <c:v>1986</c:v>
                  </c:pt>
                  <c:pt idx="26">
                    <c:v>1988</c:v>
                  </c:pt>
                  <c:pt idx="27">
                    <c:v>1990</c:v>
                  </c:pt>
                  <c:pt idx="28">
                    <c:v>1992</c:v>
                  </c:pt>
                  <c:pt idx="29">
                    <c:v>1994</c:v>
                  </c:pt>
                  <c:pt idx="30">
                    <c:v>1996</c:v>
                  </c:pt>
                  <c:pt idx="31">
                    <c:v>1998</c:v>
                  </c:pt>
                  <c:pt idx="32">
                    <c:v>2000</c:v>
                  </c:pt>
                  <c:pt idx="33">
                    <c:v>2002</c:v>
                  </c:pt>
                  <c:pt idx="34">
                    <c:v>2004</c:v>
                  </c:pt>
                  <c:pt idx="35">
                    <c:v>2006</c:v>
                  </c:pt>
                  <c:pt idx="36">
                    <c:v>2008</c:v>
                  </c:pt>
                  <c:pt idx="37">
                    <c:v>2010</c:v>
                  </c:pt>
                  <c:pt idx="38">
                    <c:v>2012</c:v>
                  </c:pt>
                  <c:pt idx="39">
                    <c:v>2014</c:v>
                  </c:pt>
                  <c:pt idx="40">
                    <c:v>2016</c:v>
                  </c:pt>
                  <c:pt idx="41">
                    <c:v>2018</c:v>
                  </c:pt>
                  <c:pt idx="42">
                    <c:v>2020</c:v>
                  </c:pt>
                  <c:pt idx="43">
                    <c:v>2022</c:v>
                  </c:pt>
                  <c:pt idx="44">
                    <c:v>2024</c:v>
                  </c:pt>
                  <c:pt idx="45">
                    <c:v>2026</c:v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10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5</c:v>
                </c:pt>
                <c:pt idx="5">
                  <c:v>3</c:v>
                </c:pt>
                <c:pt idx="6">
                  <c:v>6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7</c:v>
                </c:pt>
                <c:pt idx="11">
                  <c:v>7</c:v>
                </c:pt>
                <c:pt idx="12">
                  <c:v>7</c:v>
                </c:pt>
                <c:pt idx="13">
                  <c:v>6</c:v>
                </c:pt>
                <c:pt idx="14">
                  <c:v>5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7</c:v>
                </c:pt>
                <c:pt idx="21">
                  <c:v>7</c:v>
                </c:pt>
                <c:pt idx="22">
                  <c:v>8</c:v>
                </c:pt>
                <c:pt idx="23">
                  <c:v>8</c:v>
                </c:pt>
                <c:pt idx="24">
                  <c:v>8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7</c:v>
                </c:pt>
                <c:pt idx="30">
                  <c:v>6</c:v>
                </c:pt>
                <c:pt idx="31">
                  <c:v>7</c:v>
                </c:pt>
                <c:pt idx="32">
                  <c:v>6</c:v>
                </c:pt>
                <c:pt idx="33">
                  <c:v>7</c:v>
                </c:pt>
                <c:pt idx="34">
                  <c:v>7</c:v>
                </c:pt>
                <c:pt idx="35">
                  <c:v>8</c:v>
                </c:pt>
                <c:pt idx="36">
                  <c:v>6</c:v>
                </c:pt>
                <c:pt idx="37">
                  <c:v>6</c:v>
                </c:pt>
                <c:pt idx="38">
                  <c:v>6</c:v>
                </c:pt>
                <c:pt idx="39">
                  <c:v>6</c:v>
                </c:pt>
                <c:pt idx="40">
                  <c:v>6</c:v>
                </c:pt>
                <c:pt idx="41">
                  <c:v>6</c:v>
                </c:pt>
                <c:pt idx="42">
                  <c:v>7</c:v>
                </c:pt>
                <c:pt idx="43">
                  <c:v>6</c:v>
                </c:pt>
                <c:pt idx="44">
                  <c:v>6</c:v>
                </c:pt>
                <c:pt idx="45">
                  <c:v>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FA6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2238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FA6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724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Recent gap</c:v>
                </c:pt>
              </c:strCache>
            </c:strRef>
          </c:tx>
          <c:spPr>
            <a:solidFill>
              <a:srgbClr val="8F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Energy</c:v>
                  </c:pt>
                  <c:pt idx="1">
                    <c:v>Computing hardware</c:v>
                  </c:pt>
                  <c:pt idx="2">
                    <c:v>Computing software</c:v>
                  </c:pt>
                  <c:pt idx="3">
                    <c:v>Artificial intelligence</c:v>
                  </c:pt>
                  <c:pt idx="4">
                    <c:v>Quantum</c:v>
                  </c:pt>
                  <c:pt idx="5">
                    <c:v>Cyber security</c:v>
                  </c:pt>
                  <c:pt idx="6">
                    <c:v>Communications</c:v>
                  </c:pt>
                  <c:pt idx="7">
                    <c:v>Materials science</c:v>
                  </c:pt>
                  <c:pt idx="8">
                    <c:v>Space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6</c:v>
                </c:pt>
                <c:pt idx="2">
                  <c:v>6.5</c:v>
                </c:pt>
                <c:pt idx="3">
                  <c:v>2</c:v>
                </c:pt>
                <c:pt idx="4">
                  <c:v>7</c:v>
                </c:pt>
                <c:pt idx="5">
                  <c:v>7</c:v>
                </c:pt>
                <c:pt idx="6">
                  <c:v>4</c:v>
                </c:pt>
                <c:pt idx="7">
                  <c:v>12</c:v>
                </c:pt>
                <c:pt idx="8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AI (scenario)</c:v>
                </c:pt>
              </c:strCache>
            </c:strRef>
          </c:tx>
          <c:spPr>
            <a:solidFill>
              <a:srgbClr val="4CD3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Energy</c:v>
                  </c:pt>
                  <c:pt idx="1">
                    <c:v>Computing hardware</c:v>
                  </c:pt>
                  <c:pt idx="2">
                    <c:v>Computing software</c:v>
                  </c:pt>
                  <c:pt idx="3">
                    <c:v>Artificial intelligence</c:v>
                  </c:pt>
                  <c:pt idx="4">
                    <c:v>Quantum</c:v>
                  </c:pt>
                  <c:pt idx="5">
                    <c:v>Cyber security</c:v>
                  </c:pt>
                  <c:pt idx="6">
                    <c:v>Communications</c:v>
                  </c:pt>
                  <c:pt idx="7">
                    <c:v>Materials science</c:v>
                  </c:pt>
                  <c:pt idx="8">
                    <c:v>Space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5.1</c:v>
                </c:pt>
                <c:pt idx="1">
                  <c:v>4.2</c:v>
                </c:pt>
                <c:pt idx="2">
                  <c:v>2.9</c:v>
                </c:pt>
                <c:pt idx="3">
                  <c:v>1.1</c:v>
                </c:pt>
                <c:pt idx="4">
                  <c:v>6</c:v>
                </c:pt>
                <c:pt idx="5">
                  <c:v>4.6</c:v>
                </c:pt>
                <c:pt idx="6">
                  <c:v>3.3</c:v>
                </c:pt>
                <c:pt idx="7">
                  <c:v>7.5</c:v>
                </c:pt>
                <c:pt idx="8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E9F2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2238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FA6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724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8FA6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introduction: each arc is one research breakthrough, rising when the research began and landing at its first real-world use. The picture shows the live model as it was when this deck was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Overall, the typical gap from research to first product has grown: 6 years for research begun before 1970, 9 for research since 2000. But much recent research has not yet reached a first product. Counting that unfinished work, research since 2010 takes about 10 years, so it is not clearly quicker than research begun before 1970. (AI-generated narrative from the weekly agents; no human review.)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shows the typical gap for milestones landing in each preceding decade. The examples are the quickest recent arrivals in the selection, and the slowest since 2010.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2010, AI-driven work has been quicker: 3 years, against 6 for the rest. Ahead, AI-assisted work is expected to be quicker: 9 years, against 11 for conventional work. Since 2000, AI itself is the fastest field, at about 4 years. With one field selected, its sub-fields get their own tracks. The AI ranges are scenario assumptions stated in the dataset, not forecasts.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 radar shows how close each area's technologies are to everyday use: 20 in research, 9 in pilots, 22 in early commercial use and 8 in wide use. 19 of these are already used in Great Britain. Expected within five years: 24, the soonest being AI in grid control rooms, around 2027. Security, assurance and governance has the most in the pipeline. Readiness stages and GB status are AI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Cyber lens shows how long security took to catch up: typically 3 years after a technology arrived. So, is security keeping pace? It is catching up faster than it used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 is getting shorter: about 12 years for companies founded before 1970, against about 3 years for those founded since 2015. Sort by speed: so far, the quickest journey from founding to fortune belongs to Thinking Machines Lab, taking under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788920"/>
            <a:ext cx="9144000" cy="2354580"/>
          </a:xfrm>
          <a:prstGeom prst="rect">
            <a:avLst/>
          </a:prstGeom>
          <a:solidFill>
            <a:srgbClr val="0B1724">
              <a:alpha val="88000"/>
            </a:srgbClr>
          </a:solidFill>
          <a:ln w="12700">
            <a:solidFill>
              <a:srgbClr val="0B1724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292608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Shrinking Gap from Research to Change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it takes research to become real-world change, and whether AI is shortening the journey.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C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474 milestones across 11 fields, 1925 to 2036  •  29 October 2026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57200"/>
          </a:xfrm>
          <a:prstGeom prst="rect">
            <a:avLst/>
          </a:prstGeom>
          <a:solidFill>
            <a:srgbClr val="F7C04A"/>
          </a:solidFill>
          <a:ln w="12700">
            <a:solidFill>
              <a:srgbClr val="F7C0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headline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years, for the current selection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52728"/>
            <a:ext cx="45720" cy="2523744"/>
          </a:xfrm>
          <a:prstGeom prst="rect">
            <a:avLst/>
          </a:prstGeom>
          <a:solidFill>
            <a:srgbClr val="F7C04A"/>
          </a:solidFill>
          <a:ln w="12700">
            <a:solidFill>
              <a:srgbClr val="F7C04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2618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7C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→ 9 yrs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93852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research to first product: milestones landing before 1970, against since 2000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6032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example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Then: Liquid-fuelled rocket to orbit: 1926 → 1957 (31 yrs)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Protein structure prediction: 2020 → 2021 (1 yr)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4300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252728"/>
            <a:ext cx="45720" cy="2523744"/>
          </a:xfrm>
          <a:prstGeom prst="rect">
            <a:avLst/>
          </a:prstGeom>
          <a:solidFill>
            <a:srgbClr val="4CD3C2"/>
          </a:solidFill>
          <a:ln w="12700">
            <a:solidFill>
              <a:srgbClr val="4CD3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83280" y="12618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4CD3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vs 6 yrs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193852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work against everything else, for research since 2010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256032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example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AI-designed chip layouts: 2020 → 2021 (1 yr)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Natural-sounding AI voices: 2016 → 2017 (1 yr)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1252728"/>
            <a:ext cx="45720" cy="2523744"/>
          </a:xfrm>
          <a:prstGeom prst="rect">
            <a:avLst/>
          </a:prstGeom>
          <a:solidFill>
            <a:srgbClr val="A891FF"/>
          </a:solidFill>
          <a:ln w="12700">
            <a:solidFill>
              <a:srgbClr val="A891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A89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 yrs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93852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product to mainstream adoption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example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cryptography: first product 2024, mainstream by 2025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4069080"/>
            <a:ext cx="8412480" cy="566928"/>
          </a:xfrm>
          <a:prstGeom prst="roundRect">
            <a:avLst>
              <a:gd name="adj" fmla="val 12903"/>
            </a:avLst>
          </a:prstGeom>
          <a:solidFill>
            <a:srgbClr val="2A2410"/>
          </a:solidFill>
          <a:ln w="9525">
            <a:solidFill>
              <a:srgbClr val="F7C0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1480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7C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So, is AI shrinking the gap? Two of the four measures here, half, point to yes. The answer updates as new evidence arrives.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57200"/>
          </a:xfrm>
          <a:prstGeom prst="rect">
            <a:avLst/>
          </a:prstGeom>
          <a:solidFill>
            <a:srgbClr val="F7C04A"/>
          </a:solidFill>
          <a:ln w="12700">
            <a:solidFill>
              <a:srgbClr val="F7C0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over time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years from research to first product, for milestones landing in the preceding ten years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097280"/>
          <a:ext cx="54864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097280"/>
            <a:ext cx="2743200" cy="3520440"/>
          </a:xfrm>
          <a:prstGeom prst="roundRect">
            <a:avLst>
              <a:gd name="adj" fmla="val 2667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35040" y="1207008"/>
            <a:ext cx="45720" cy="3300984"/>
          </a:xfrm>
          <a:prstGeom prst="rect">
            <a:avLst/>
          </a:prstGeom>
          <a:solidFill>
            <a:srgbClr val="4CD3C2"/>
          </a:solidFill>
          <a:ln w="12700">
            <a:solidFill>
              <a:srgbClr val="4CD3C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188720"/>
            <a:ext cx="2468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4CD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recent arrivals</a:t>
            </a:r>
            <a:endParaRPr lang="en-US" sz="10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 prediction: 2020 → 2021 (1 yr)</a:t>
            </a:r>
            <a:endParaRPr lang="en-US" sz="10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models: 2017 → 2019 (2 yrs)</a:t>
            </a:r>
            <a:endParaRPr lang="en-US" sz="10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 models: 2022 → 2024 (2 yrs)</a:t>
            </a:r>
            <a:endParaRPr lang="en-US" sz="105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slow</a:t>
            </a:r>
            <a:endParaRPr lang="en-US" sz="1050" dirty="0"/>
          </a:p>
          <a:p>
            <a:pPr marL="114300" indent="-114300"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line rating on GB transmission lines: 1977 → 2026 (49 yrs)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57200"/>
          </a:xfrm>
          <a:prstGeom prst="rect">
            <a:avLst/>
          </a:prstGeom>
          <a:solidFill>
            <a:srgbClr val="4CD3C2"/>
          </a:solidFill>
          <a:ln w="12700">
            <a:solidFill>
              <a:srgbClr val="4CD3C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AI shrink the gap?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median gap by field, against a plausible range with AI and digital twins (scenario, not forecast)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097280"/>
          <a:ext cx="539496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94360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43600" y="1207008"/>
            <a:ext cx="45720" cy="3300984"/>
          </a:xfrm>
          <a:prstGeom prst="rect">
            <a:avLst/>
          </a:prstGeom>
          <a:solidFill>
            <a:srgbClr val="4CD3C2"/>
          </a:solidFill>
          <a:ln w="12700">
            <a:solidFill>
              <a:srgbClr val="4CD3C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126480" y="1188720"/>
            <a:ext cx="2560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4CD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work</a:t>
            </a:r>
            <a:endParaRPr lang="en-US" sz="10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AI-designed chip layouts: 2020 → 2021 (1 yr)</a:t>
            </a:r>
            <a:endParaRPr lang="en-US" sz="10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Natural-sounding AI voices: 2016 → 2017 (1 yr)</a:t>
            </a:r>
            <a:endParaRPr lang="en-US" sz="1050" dirty="0"/>
          </a:p>
          <a:p>
            <a:pPr marL="114300" indent="-1143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open-source Coral NPU in commercial edge chips: 2025 → 2026 (1 yr)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950" i="1" dirty="0">
                <a:solidFill>
                  <a:srgbClr val="F7C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2010, AI-driven work took 3 yrs, against 6 yrs for the rest.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57200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Arriving next: the DESNZ AI energy vision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of the technologies behind each area, and the soonest expected arrival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609344" cy="2926080"/>
          </a:xfrm>
          <a:prstGeom prst="roundRect">
            <a:avLst>
              <a:gd name="adj" fmla="val 4545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07008"/>
            <a:ext cx="45720" cy="270662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170432"/>
            <a:ext cx="1380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optimisation and operation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02920" y="1783080"/>
            <a:ext cx="333756" cy="146304"/>
          </a:xfrm>
          <a:prstGeom prst="rect">
            <a:avLst/>
          </a:prstGeom>
          <a:solidFill>
            <a:srgbClr val="8FA6B8"/>
          </a:solidFill>
          <a:ln w="12700">
            <a:solidFill>
              <a:srgbClr val="8FA6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6676" y="1783080"/>
            <a:ext cx="166878" cy="14630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3554" y="1783080"/>
            <a:ext cx="667512" cy="146304"/>
          </a:xfrm>
          <a:prstGeom prst="rect">
            <a:avLst/>
          </a:prstGeom>
          <a:solidFill>
            <a:srgbClr val="5FD8FF"/>
          </a:solidFill>
          <a:ln w="12700">
            <a:solidFill>
              <a:srgbClr val="5FD8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71066" y="1783080"/>
            <a:ext cx="166878" cy="146304"/>
          </a:xfrm>
          <a:prstGeom prst="rect">
            <a:avLst/>
          </a:prstGeom>
          <a:solidFill>
            <a:srgbClr val="7FD6A0"/>
          </a:solidFill>
          <a:ln w="12700">
            <a:solidFill>
              <a:srgbClr val="7FD6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196596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technologies, 6 deployed in GB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286000"/>
            <a:ext cx="1380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2D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~2027  AI in grid control rooms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~2028  Weather-driven fault forecasting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066544" y="1097280"/>
            <a:ext cx="1609344" cy="2926080"/>
          </a:xfrm>
          <a:prstGeom prst="roundRect">
            <a:avLst>
              <a:gd name="adj" fmla="val 4545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66544" y="1207008"/>
            <a:ext cx="45720" cy="270662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704" y="1170432"/>
            <a:ext cx="1380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 planning, operation and maintenance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03704" y="1783080"/>
            <a:ext cx="485463" cy="146304"/>
          </a:xfrm>
          <a:prstGeom prst="rect">
            <a:avLst/>
          </a:prstGeom>
          <a:solidFill>
            <a:srgbClr val="8FA6B8"/>
          </a:solidFill>
          <a:ln w="12700">
            <a:solidFill>
              <a:srgbClr val="8FA6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89167" y="1783080"/>
            <a:ext cx="242732" cy="14630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31899" y="1783080"/>
            <a:ext cx="606829" cy="146304"/>
          </a:xfrm>
          <a:prstGeom prst="rect">
            <a:avLst/>
          </a:prstGeom>
          <a:solidFill>
            <a:srgbClr val="5FD8FF"/>
          </a:solidFill>
          <a:ln w="12700">
            <a:solidFill>
              <a:srgbClr val="5FD8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3704" y="196596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technologies, 2 deployed in GB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2203704" y="2286000"/>
            <a:ext cx="1380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2D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~2027  Network-wide satellite AI tree management in GB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~2028  AI predictive maintenance across networks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767328" y="1097280"/>
            <a:ext cx="1609344" cy="2926080"/>
          </a:xfrm>
          <a:prstGeom prst="roundRect">
            <a:avLst>
              <a:gd name="adj" fmla="val 4545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67328" y="1207008"/>
            <a:ext cx="45720" cy="270662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04488" y="1170432"/>
            <a:ext cx="1380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End-use efficiency and demand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904488" y="1783080"/>
            <a:ext cx="308082" cy="146304"/>
          </a:xfrm>
          <a:prstGeom prst="rect">
            <a:avLst/>
          </a:prstGeom>
          <a:solidFill>
            <a:srgbClr val="8FA6B8"/>
          </a:solidFill>
          <a:ln w="12700">
            <a:solidFill>
              <a:srgbClr val="8FA6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12570" y="1783080"/>
            <a:ext cx="102694" cy="14630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15265" y="1783080"/>
            <a:ext cx="513471" cy="146304"/>
          </a:xfrm>
          <a:prstGeom prst="rect">
            <a:avLst/>
          </a:prstGeom>
          <a:solidFill>
            <a:srgbClr val="5FD8FF"/>
          </a:solidFill>
          <a:ln w="12700">
            <a:solidFill>
              <a:srgbClr val="5FD8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28735" y="1783080"/>
            <a:ext cx="410777" cy="146304"/>
          </a:xfrm>
          <a:prstGeom prst="rect">
            <a:avLst/>
          </a:prstGeom>
          <a:solidFill>
            <a:srgbClr val="7FD6A0"/>
          </a:solidFill>
          <a:ln w="12700">
            <a:solidFill>
              <a:srgbClr val="7FD6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04488" y="196596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technologies, 8 deployed in GB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3904488" y="2286000"/>
            <a:ext cx="1380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2D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~2028  Household flexibility at scale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~2028  AI home energy agents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468112" y="1097280"/>
            <a:ext cx="1609344" cy="2926080"/>
          </a:xfrm>
          <a:prstGeom prst="roundRect">
            <a:avLst>
              <a:gd name="adj" fmla="val 4545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68112" y="1207008"/>
            <a:ext cx="45720" cy="270662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05272" y="1170432"/>
            <a:ext cx="1380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innovation and R&amp;D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605272" y="1783080"/>
            <a:ext cx="953589" cy="146304"/>
          </a:xfrm>
          <a:prstGeom prst="rect">
            <a:avLst/>
          </a:prstGeom>
          <a:solidFill>
            <a:srgbClr val="8FA6B8"/>
          </a:solidFill>
          <a:ln w="12700">
            <a:solidFill>
              <a:srgbClr val="8FA6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61" y="1783080"/>
            <a:ext cx="190718" cy="14630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49578" y="1783080"/>
            <a:ext cx="190718" cy="146304"/>
          </a:xfrm>
          <a:prstGeom prst="rect">
            <a:avLst/>
          </a:prstGeom>
          <a:solidFill>
            <a:srgbClr val="5FD8FF"/>
          </a:solidFill>
          <a:ln w="12700">
            <a:solidFill>
              <a:srgbClr val="5FD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05272" y="196596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technologies, 0 deployed in GB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605272" y="2286000"/>
            <a:ext cx="1380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2D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~2028  AI as a scientific collaborator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~2029  AI-discovered materials in 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168896" y="1097280"/>
            <a:ext cx="1609344" cy="2926080"/>
          </a:xfrm>
          <a:prstGeom prst="roundRect">
            <a:avLst>
              <a:gd name="adj" fmla="val 4545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168896" y="1207008"/>
            <a:ext cx="45720" cy="270662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306056" y="1170432"/>
            <a:ext cx="1380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assurance and governance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306056" y="1783080"/>
            <a:ext cx="445008" cy="146304"/>
          </a:xfrm>
          <a:prstGeom prst="rect">
            <a:avLst/>
          </a:prstGeom>
          <a:solidFill>
            <a:srgbClr val="8FA6B8"/>
          </a:solidFill>
          <a:ln w="12700">
            <a:solidFill>
              <a:srgbClr val="8FA6B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51064" y="1783080"/>
            <a:ext cx="333756" cy="146304"/>
          </a:xfrm>
          <a:prstGeom prst="rect">
            <a:avLst/>
          </a:prstGeom>
          <a:solidFill>
            <a:srgbClr val="F2D38A"/>
          </a:solidFill>
          <a:ln w="12700">
            <a:solidFill>
              <a:srgbClr val="F2D38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84820" y="1783080"/>
            <a:ext cx="333756" cy="146304"/>
          </a:xfrm>
          <a:prstGeom prst="rect">
            <a:avLst/>
          </a:prstGeom>
          <a:solidFill>
            <a:srgbClr val="5FD8FF"/>
          </a:solidFill>
          <a:ln w="12700">
            <a:solidFill>
              <a:srgbClr val="5FD8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18576" y="1783080"/>
            <a:ext cx="222504" cy="146304"/>
          </a:xfrm>
          <a:prstGeom prst="rect">
            <a:avLst/>
          </a:prstGeom>
          <a:solidFill>
            <a:srgbClr val="7FD6A0"/>
          </a:solidFill>
          <a:ln w="12700">
            <a:solidFill>
              <a:srgbClr val="7FD6A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06056" y="196596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technologies, 3 deployed in GB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7306056" y="2286000"/>
            <a:ext cx="13807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2D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~2027  AI for Clean Energy Strategy</a:t>
            </a:r>
            <a:endParaRPr lang="en-US" sz="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~2027  Cyber Security and Resilience Act in force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2D3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So, what is on the horizon? A busy pipeline, and the radar shows which areas are closest to everyday use.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51" name="Text 48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5720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Securing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technology brings new ways in; security has historically followed later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07008"/>
            <a:ext cx="45720" cy="649224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152144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77%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17043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technologies here expand the attack surface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65760" y="2075688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85416"/>
            <a:ext cx="45720" cy="649224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130552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yrs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1488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wait for the first security response in a technology’s category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65760" y="3054096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163824"/>
            <a:ext cx="45720" cy="649224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1089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127248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gaps: arrived since 2010 with no response yet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91840" y="1097280"/>
            <a:ext cx="5486400" cy="1691640"/>
          </a:xfrm>
          <a:prstGeom prst="roundRect">
            <a:avLst>
              <a:gd name="adj" fmla="val 4324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207008"/>
            <a:ext cx="45720" cy="1472184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0" y="1170432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meters at scale (2001). Puts many remotely controllable devices at the grid edge, where coordinated misuse could move demand at scale.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F7C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security response in its category: OT threat detection for utilities (2011), 10 years later.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926080"/>
            <a:ext cx="5486400" cy="1664208"/>
          </a:xfrm>
          <a:prstGeom prst="roundRect">
            <a:avLst>
              <a:gd name="adj" fmla="val 4396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91840" y="3035808"/>
            <a:ext cx="45720" cy="144475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29992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are mapped to official frameworks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3364992"/>
            <a:ext cx="1627632" cy="292608"/>
          </a:xfrm>
          <a:prstGeom prst="roundRect">
            <a:avLst>
              <a:gd name="adj" fmla="val 18750"/>
            </a:avLst>
          </a:prstGeom>
          <a:solidFill>
            <a:srgbClr val="2A1517"/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0" y="3364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NCSC CAF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212080" y="3364992"/>
            <a:ext cx="1627632" cy="292608"/>
          </a:xfrm>
          <a:prstGeom prst="roundRect">
            <a:avLst>
              <a:gd name="adj" fmla="val 18750"/>
            </a:avLst>
          </a:prstGeom>
          <a:solidFill>
            <a:srgbClr val="2A1517"/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3364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Ofgem CAF Overlay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949440" y="3364992"/>
            <a:ext cx="1627632" cy="292608"/>
          </a:xfrm>
          <a:prstGeom prst="roundRect">
            <a:avLst>
              <a:gd name="adj" fmla="val 18750"/>
            </a:avLst>
          </a:prstGeom>
          <a:solidFill>
            <a:srgbClr val="2A1517"/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336499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NERC CIP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74720" y="3749040"/>
            <a:ext cx="1627632" cy="292608"/>
          </a:xfrm>
          <a:prstGeom prst="roundRect">
            <a:avLst>
              <a:gd name="adj" fmla="val 18750"/>
            </a:avLst>
          </a:prstGeom>
          <a:solidFill>
            <a:srgbClr val="2A1517"/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74720" y="37490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ISA/IEC 62443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212080" y="3749040"/>
            <a:ext cx="1627632" cy="292608"/>
          </a:xfrm>
          <a:prstGeom prst="roundRect">
            <a:avLst>
              <a:gd name="adj" fmla="val 18750"/>
            </a:avLst>
          </a:prstGeom>
          <a:solidFill>
            <a:srgbClr val="2A1517"/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12080" y="37490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CSF 2.0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949440" y="3749040"/>
            <a:ext cx="1627632" cy="292608"/>
          </a:xfrm>
          <a:prstGeom prst="roundRect">
            <a:avLst>
              <a:gd name="adj" fmla="val 18750"/>
            </a:avLst>
          </a:prstGeom>
          <a:solidFill>
            <a:srgbClr val="2A1517"/>
          </a:solidFill>
          <a:ln w="6350">
            <a:solidFill>
              <a:srgbClr val="FF6B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49440" y="374904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IEC 62351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347472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D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to prompt discussion, not security advice: engage qualified experts.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47472"/>
            <a:ext cx="73152" cy="457200"/>
          </a:xfrm>
          <a:prstGeom prst="rect">
            <a:avLst/>
          </a:prstGeom>
          <a:solidFill>
            <a:srgbClr val="A891FF"/>
          </a:solidFill>
          <a:ln w="12700">
            <a:solidFill>
              <a:srgbClr val="A891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9F2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lab to fortune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from founding a company to the listing, sale or valuation that made its founders wealthy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98448"/>
            <a:ext cx="45720" cy="1975104"/>
          </a:xfrm>
          <a:prstGeom prst="rect">
            <a:avLst/>
          </a:prstGeom>
          <a:solidFill>
            <a:srgbClr val="A891FF"/>
          </a:solidFill>
          <a:ln w="12700">
            <a:solidFill>
              <a:srgbClr val="A891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325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89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 of 86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945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fortunes began in a university or research lab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18872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298448"/>
            <a:ext cx="45720" cy="1975104"/>
          </a:xfrm>
          <a:prstGeom prst="rect">
            <a:avLst/>
          </a:prstGeom>
          <a:solidFill>
            <a:srgbClr val="A891FF"/>
          </a:solidFill>
          <a:ln w="12700">
            <a:solidFill>
              <a:srgbClr val="A891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83280" y="1325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89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→ 3 yrs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1945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time to a fortune: companies founded before 1970, against since 2015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13283A"/>
          </a:solidFill>
          <a:ln w="9525">
            <a:solidFill>
              <a:srgbClr val="2238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298448"/>
            <a:ext cx="45720" cy="1975104"/>
          </a:xfrm>
          <a:prstGeom prst="rect">
            <a:avLst/>
          </a:prstGeom>
          <a:solidFill>
            <a:srgbClr val="A891FF"/>
          </a:solidFill>
          <a:ln w="12700">
            <a:solidFill>
              <a:srgbClr val="A891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3258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9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 Machines Lab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1945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fastest so far: under a year, from founding in 2025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657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9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lab to fortune: the journey is getting faster.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484632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Okin, personal project. Data revision 20 (2026-10-29), narrative version 12. AI-maintained data and narrative, no human review; may contain errors. Selection: All fields.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8412480" y="484632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F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Shrinking Gap from Research to Change</dc:title>
  <dc:subject>PptxGenJS Presentation</dc:subject>
  <dc:creator>Stuart Okin</dc:creator>
  <cp:lastModifiedBy>Stuart Okin</cp:lastModifiedBy>
  <cp:revision>1</cp:revision>
  <dcterms:created xsi:type="dcterms:W3CDTF">2026-10-29T21:28:46Z</dcterms:created>
  <dcterms:modified xsi:type="dcterms:W3CDTF">2026-10-29T21:28:46Z</dcterms:modified>
</cp:coreProperties>
</file>